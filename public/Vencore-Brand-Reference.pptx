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943600" cy="5943600"/>
          </a:xfrm>
          <a:prstGeom prst="ellipse">
            <a:avLst/>
          </a:prstGeom>
          <a:solidFill>
            <a:srgbClr val="2A2219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HANDOVER  · 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Vencore Design Co.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&amp; UI Reference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069080"/>
            <a:ext cx="1005840" cy="0"/>
          </a:xfrm>
          <a:prstGeom prst="line">
            <a:avLst/>
          </a:prstGeom>
          <a:noFill/>
          <a:ln w="15875">
            <a:solidFill>
              <a:srgbClr val="9B6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 ·  COMMERCIAL  ·  RETAIL &amp; RESTAURANTS  ·  RESIDENTIAL  ·  HOSPITALITY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2A22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989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vencoredesign.com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6  ·  docs/brand-guide.html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1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206240"/>
            <a:ext cx="5943600" cy="5943600"/>
          </a:xfrm>
          <a:prstGeom prst="ellipse">
            <a:avLst/>
          </a:prstGeom>
          <a:solidFill>
            <a:srgbClr val="2A2219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" y="1097280"/>
            <a:ext cx="9601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that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delivers.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97280" y="28803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Turnkey interiors, from brief to handover.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0380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0380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0380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Brief, brand, and building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in one conversation.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6996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6996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Craft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6996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light, and detail,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before site.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33612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3612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3612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execution, handed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once — done right.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warm, editorial palette.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4708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0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11100E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414016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14016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#11100E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41648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69664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Umber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69664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#221C17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797296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25312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25312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#2A2219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552944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A2622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680960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680960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#2A2622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" y="326440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0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7A4728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414016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Cognac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14016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#7A4728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041648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9B6B3D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69664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69664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#9B6B3D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97296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C7A46A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25312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Antique Gold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25312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#C7A46A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52944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DFC58C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680960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Gold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680960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#DFC58C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" y="468172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NEUTRALS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STATUS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FBF7EF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414016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Ivory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414016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#FBF7EF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041648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169664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Paper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169664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#F4EEE4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797296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EBE3D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925312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25312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#EBE3D4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552944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766D63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680960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80960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#766D63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22960" y="610819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from grid: Chalk #F0E9DF  ·  Stone Muted #756C62  ·  Body #2F291F  |  Status accents: Error #8B3030  ·  WA Green #1A6B45 — reserved for utility, never decoration.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voices, one register.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74920" cy="2331720"/>
          </a:xfrm>
          <a:prstGeom prst="roundRect">
            <a:avLst>
              <a:gd name="adj" fmla="val 2353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52400" dist="508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 · HEADLINES &amp; EDITORIAL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301752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Cormorant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017520" y="27614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Regular + Italic · 500 Medium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“Design that delivers.”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074920" cy="2331720"/>
          </a:xfrm>
          <a:prstGeom prst="roundRect">
            <a:avLst>
              <a:gd name="adj" fmla="val 2353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UI, BODY &amp; LABELS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92240" y="221284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45820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58200" y="27614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Regular · 500 Medium · 600 SemiBold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design, healthcare planning, turnkey delivery.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SCALE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5210092"/>
            <a:ext cx="1920240" cy="8068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611880" y="5329362"/>
            <a:ext cx="1920240" cy="6454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09360" y="5428753"/>
            <a:ext cx="1920240" cy="5109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915400" y="5508266"/>
            <a:ext cx="1920240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0" y="5567901"/>
            <a:ext cx="1920240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fluid scale (clamp) — H1 4.75rem · H2 3.25rem · H3 1.625rem · H4 1.3125rem · H5 1.125rem · H6 0.9375rem · --text-body 1.0625rem · --text-caption 0.8125rem · --text-small 0.9375rem · --text-label 0.8125rem · --text-micro 0.75rem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Interface, refined.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10515600" cy="2468880"/>
          </a:xfrm>
          <a:prstGeom prst="roundRect">
            <a:avLst>
              <a:gd name="adj" fmla="val 2963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0848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43000" y="2450592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2219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4505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BRIEFING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977640" y="2450592"/>
            <a:ext cx="2286000" cy="566928"/>
          </a:xfrm>
          <a:prstGeom prst="roundRect">
            <a:avLst>
              <a:gd name="adj" fmla="val 50000"/>
            </a:avLst>
          </a:prstGeom>
          <a:ln w="15875">
            <a:solidFill>
              <a:srgbClr val="9B6B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450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B6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PROJECTS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46520" y="2450592"/>
            <a:ext cx="1874520" cy="566928"/>
          </a:xfrm>
          <a:prstGeom prst="roundRect">
            <a:avLst>
              <a:gd name="adj" fmla="val 50000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4505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0" y="245059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· Outline · Ghost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3310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PILLS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43000" y="3657600"/>
            <a:ext cx="1179576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6576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23744" y="3657600"/>
            <a:ext cx="1100023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23744" y="3657600"/>
            <a:ext cx="11000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24935" y="3657600"/>
            <a:ext cx="1020470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4935" y="3657600"/>
            <a:ext cx="10204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46574" y="3657600"/>
            <a:ext cx="861365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6574" y="3657600"/>
            <a:ext cx="86136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22960" y="452628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43000" y="4736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RING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43000" y="5120640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FBF7EF"/>
          </a:solidFill>
          <a:ln w="19050">
            <a:solidFill>
              <a:srgbClr val="C7A4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5120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element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43000" y="57424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2px solid gold · 3px offset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0" y="452628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37960" y="4736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RADII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37960" y="5138928"/>
            <a:ext cx="777240" cy="594360"/>
          </a:xfrm>
          <a:prstGeom prst="roundRect">
            <a:avLst>
              <a:gd name="adj" fmla="val 6154"/>
            </a:avLst>
          </a:prstGeom>
          <a:solidFill>
            <a:srgbClr val="EBE3D4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571232" y="5138928"/>
            <a:ext cx="777240" cy="594360"/>
          </a:xfrm>
          <a:prstGeom prst="roundRect">
            <a:avLst>
              <a:gd name="adj" fmla="val 13846"/>
            </a:avLst>
          </a:prstGeom>
          <a:solidFill>
            <a:srgbClr val="EBE3D4"/>
          </a:solidFill>
          <a:ln/>
        </p:spPr>
      </p:sp>
      <p:sp>
        <p:nvSpPr>
          <p:cNvPr id="32" name="Text 30"/>
          <p:cNvSpPr/>
          <p:nvPr/>
        </p:nvSpPr>
        <p:spPr>
          <a:xfrm>
            <a:off x="7571232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604504" y="5138928"/>
            <a:ext cx="777240" cy="594360"/>
          </a:xfrm>
          <a:prstGeom prst="roundRect">
            <a:avLst>
              <a:gd name="adj" fmla="val 21538"/>
            </a:avLst>
          </a:prstGeom>
          <a:solidFill>
            <a:srgbClr val="EBE3D4"/>
          </a:solidFill>
          <a:ln/>
        </p:spPr>
      </p:sp>
      <p:sp>
        <p:nvSpPr>
          <p:cNvPr id="34" name="Text 32"/>
          <p:cNvSpPr/>
          <p:nvPr/>
        </p:nvSpPr>
        <p:spPr>
          <a:xfrm>
            <a:off x="8604504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12px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37776" y="5138928"/>
            <a:ext cx="1005840" cy="594360"/>
          </a:xfrm>
          <a:prstGeom prst="roundRect">
            <a:avLst>
              <a:gd name="adj" fmla="val 43077"/>
            </a:avLst>
          </a:prstGeom>
          <a:solidFill>
            <a:srgbClr val="EBE3D4"/>
          </a:solidFill>
          <a:ln/>
        </p:spPr>
      </p:sp>
      <p:sp>
        <p:nvSpPr>
          <p:cNvPr id="36" name="Text 34"/>
          <p:cNvSpPr/>
          <p:nvPr/>
        </p:nvSpPr>
        <p:spPr>
          <a:xfrm>
            <a:off x="9637776" y="5806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9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Rhythm, not clutter.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 SCALE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457200" cy="182880"/>
          </a:xfrm>
          <a:prstGeom prst="roundRect">
            <a:avLst>
              <a:gd name="adj" fmla="val 15000"/>
            </a:avLst>
          </a:prstGeom>
          <a:solidFill>
            <a:srgbClr val="C7A46A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95044" y="3794760"/>
            <a:ext cx="457200" cy="365760"/>
          </a:xfrm>
          <a:prstGeom prst="roundRect">
            <a:avLst>
              <a:gd name="adj" fmla="val 7500"/>
            </a:avLst>
          </a:prstGeom>
          <a:solidFill>
            <a:srgbClr val="C7A46A"/>
          </a:solidFill>
          <a:ln/>
        </p:spPr>
      </p:sp>
      <p:sp>
        <p:nvSpPr>
          <p:cNvPr id="8" name="Text 6"/>
          <p:cNvSpPr/>
          <p:nvPr/>
        </p:nvSpPr>
        <p:spPr>
          <a:xfrm>
            <a:off x="1385316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16px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21408" y="3611880"/>
            <a:ext cx="457200" cy="54864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24px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7772" y="3429000"/>
            <a:ext cx="457200" cy="73152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32px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74136" y="3246120"/>
            <a:ext cx="457200" cy="91440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4" name="Text 12"/>
          <p:cNvSpPr/>
          <p:nvPr/>
        </p:nvSpPr>
        <p:spPr>
          <a:xfrm>
            <a:off x="3264408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40px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00500" y="3063240"/>
            <a:ext cx="457200" cy="109728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6" name="Text 14"/>
          <p:cNvSpPr/>
          <p:nvPr/>
        </p:nvSpPr>
        <p:spPr>
          <a:xfrm>
            <a:off x="3890772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48px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2697480"/>
            <a:ext cx="457200" cy="146304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8" name="Text 16"/>
          <p:cNvSpPr/>
          <p:nvPr/>
        </p:nvSpPr>
        <p:spPr>
          <a:xfrm>
            <a:off x="4517136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64px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253228" y="2331720"/>
            <a:ext cx="457200" cy="182880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20" name="Text 18"/>
          <p:cNvSpPr/>
          <p:nvPr/>
        </p:nvSpPr>
        <p:spPr>
          <a:xfrm>
            <a:off x="5143500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80px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" y="470916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8px base unit, scaling to --space-10 at 80px.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80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78040" y="224028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52400" dist="508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7804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326880" y="224028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FBF7EF"/>
          </a:solidFill>
          <a:ln/>
          <a:effectLst>
            <a:outerShdw sx="100000" sy="100000" kx="0" ky="0" algn="bl" rotWithShape="0" blurRad="304800" dist="1016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22960" y="5257800"/>
            <a:ext cx="10515600" cy="1051560"/>
          </a:xfrm>
          <a:prstGeom prst="roundRect">
            <a:avLst>
              <a:gd name="adj" fmla="val 6087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27000" dist="38100" dir="5400000">
              <a:srgbClr val="000000">
                <a:alpha val="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15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MAX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515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1200px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36804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WIDE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804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1320px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63093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PAD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16–40px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89382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OFFSET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382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4.5–5.75rem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22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LANGUAGE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Warmth, light, restraint.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589520" y="1463040"/>
            <a:ext cx="3749040" cy="4937760"/>
          </a:xfrm>
          <a:prstGeom prst="roundRect">
            <a:avLst>
              <a:gd name="adj" fmla="val 39024"/>
            </a:avLst>
          </a:prstGeom>
          <a:solidFill>
            <a:srgbClr val="DFC58C">
              <a:alpha val="22000"/>
            </a:srgbClr>
          </a:solidFill>
          <a:ln w="15875">
            <a:solidFill>
              <a:srgbClr val="C7A4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1737360"/>
            <a:ext cx="0" cy="4389120"/>
          </a:xfrm>
          <a:prstGeom prst="line">
            <a:avLst/>
          </a:prstGeom>
          <a:noFill/>
          <a:ln w="12700">
            <a:solidFill>
              <a:srgbClr val="C7A46A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5880" y="1737360"/>
            <a:ext cx="0" cy="4389120"/>
          </a:xfrm>
          <a:prstGeom prst="line">
            <a:avLst/>
          </a:prstGeom>
          <a:noFill/>
          <a:ln w="12700">
            <a:solidFill>
              <a:srgbClr val="C7A46A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82200" y="1737360"/>
            <a:ext cx="0" cy="4389120"/>
          </a:xfrm>
          <a:prstGeom prst="line">
            <a:avLst/>
          </a:prstGeom>
          <a:noFill/>
          <a:ln w="12700">
            <a:solidFill>
              <a:srgbClr val="C7A46A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0" y="3931920"/>
            <a:ext cx="3200400" cy="0"/>
          </a:xfrm>
          <a:prstGeom prst="line">
            <a:avLst/>
          </a:prstGeom>
          <a:noFill/>
          <a:ln w="12700">
            <a:solidFill>
              <a:srgbClr val="C7A46A">
                <a:alpha val="7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Editorial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Photography reads like a magazine spread, not a catalogue.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Tactile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36576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grain given room to speak for themselves.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4297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Considered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48006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composition earns its whitespace.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5623560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Interiors photographed in soft, natural light — never staged, always lived-in.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work happens.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64312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824" y="2651760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5752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1472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wayfinding-led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environments.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877160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672" y="2651760"/>
            <a:ext cx="676656" cy="6766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68600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Workplace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3014320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Offices built around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and gathering.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90008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20" y="2651760"/>
            <a:ext cx="676656" cy="6766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81448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227168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Storefronts that slow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down, on purpose.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302856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68" y="2651760"/>
            <a:ext cx="676656" cy="6766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94296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Residential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7440016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designed for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quiet, daily ritual.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515704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6" y="2651760"/>
            <a:ext cx="676656" cy="6766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607144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9652864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Site-ready detail from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to commissioning.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speed and precision.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781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1400" y="2212848"/>
            <a:ext cx="768096" cy="7680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152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Astro 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152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TypeScript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785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800" y="2212848"/>
            <a:ext cx="768096" cy="7680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156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 CSS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8156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Tailwind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8789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200" y="2212848"/>
            <a:ext cx="768096" cy="7680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160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0160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on push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src/content/{services,projects,insights}   —   DATA · src/data/site.json   —   IMAGES · public/images/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1737360" y="5212080"/>
            <a:ext cx="8686800" cy="640080"/>
          </a:xfrm>
          <a:prstGeom prst="roundRect">
            <a:avLst>
              <a:gd name="adj" fmla="val 11429"/>
            </a:avLst>
          </a:prstGeom>
          <a:solidFill>
            <a:srgbClr val="221C17"/>
          </a:solidFill>
          <a:ln w="12700">
            <a:solidFill>
              <a:srgbClr val="2A221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965960" y="526694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 — RUN BEFORE EVERY COMMIT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1965960" y="55412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FC5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validate:images &amp;&amp; npm run build &amp;&amp; npm run check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path, brief to handover.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2932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2932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836012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82900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8" name="Shape 6"/>
          <p:cNvSpPr/>
          <p:nvPr/>
        </p:nvSpPr>
        <p:spPr>
          <a:xfrm>
            <a:off x="3128620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28620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11700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58588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12" name="Shape 10"/>
          <p:cNvSpPr/>
          <p:nvPr/>
        </p:nvSpPr>
        <p:spPr>
          <a:xfrm>
            <a:off x="5204308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04308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87388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4276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279996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79996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63076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9964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20" name="Shape 18"/>
          <p:cNvSpPr/>
          <p:nvPr/>
        </p:nvSpPr>
        <p:spPr>
          <a:xfrm>
            <a:off x="9355684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55684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2932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+about + team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128620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practice areas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204308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index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279996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articles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355684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+ map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280160" y="4160520"/>
            <a:ext cx="9601200" cy="0"/>
          </a:xfrm>
          <a:prstGeom prst="line">
            <a:avLst/>
          </a:prstGeom>
          <a:noFill/>
          <a:ln w="12700">
            <a:solidFill>
              <a:srgbClr val="EBE3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4389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PAGES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28016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4612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4612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Policy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21208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of Use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17804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7804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14400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service links to case studies; each project links to insight articles.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1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286000"/>
            <a:ext cx="5486400" cy="5486400"/>
          </a:xfrm>
          <a:prstGeom prst="ellipse">
            <a:avLst/>
          </a:prstGeom>
          <a:solidFill>
            <a:srgbClr val="2A2219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Vencore Design Co.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822960" cy="0"/>
          </a:xfrm>
          <a:prstGeom prst="line">
            <a:avLst/>
          </a:prstGeom>
          <a:noFill/>
          <a:ln w="15875">
            <a:solidFill>
              <a:srgbClr val="9B6B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743200" y="27432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vencoredesign.com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0" y="32004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info@vencoredesign.com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43200" y="36576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+91 70931 27880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743200" y="41148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+91 98660 14664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0" y="45720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@vencoredesignco.in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166360"/>
            <a:ext cx="7863840" cy="0"/>
          </a:xfrm>
          <a:prstGeom prst="line">
            <a:avLst/>
          </a:prstGeom>
          <a:noFill/>
          <a:ln w="12700">
            <a:solidFill>
              <a:srgbClr val="2A221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349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743200" y="53492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No. 9-24/9B/2, 9th Floor, Vaishnavi Cymbol,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District, Nanakramguda, Hyderabad — 500032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 of KLM Homes Group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Vencore Design Co. — Brand &amp; UI Reference</dc:title>
  <dc:subject>PptxGenJS Presentation</dc:subject>
  <dc:creator>Vencore Design Co.</dc:creator>
  <cp:lastModifiedBy>Vencore Design Co.</cp:lastModifiedBy>
  <cp:revision>1</cp:revision>
  <dcterms:created xsi:type="dcterms:W3CDTF">2026-07-07T03:22:14Z</dcterms:created>
  <dcterms:modified xsi:type="dcterms:W3CDTF">2026-07-07T03:22:14Z</dcterms:modified>
</cp:coreProperties>
</file>