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011680"/>
            <a:ext cx="5943600" cy="5943600"/>
          </a:xfrm>
          <a:prstGeom prst="ellipse">
            <a:avLst/>
          </a:prstGeom>
          <a:solidFill>
            <a:srgbClr val="2A2219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600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C7A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HANDOVER  ·  JULY 2026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20116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FBF7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Vencore Design Co.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DFC5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 &amp; UI Reference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4069080"/>
            <a:ext cx="1005840" cy="0"/>
          </a:xfrm>
          <a:prstGeom prst="line">
            <a:avLst/>
          </a:prstGeom>
          <a:noFill/>
          <a:ln w="15875">
            <a:solidFill>
              <a:srgbClr val="9B6B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 ·  COMMERCIAL  ·  RETAIL &amp; RESTAURANTS  ·  RESIDENTIAL  ·  HOSPITALITY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5806440"/>
            <a:ext cx="10515600" cy="0"/>
          </a:xfrm>
          <a:prstGeom prst="line">
            <a:avLst/>
          </a:prstGeom>
          <a:noFill/>
          <a:ln w="12700">
            <a:solidFill>
              <a:srgbClr val="2A221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989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vencoredesign.com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852160" y="5989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 6  ·  docs/brand-guide.html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21C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4206240"/>
            <a:ext cx="5943600" cy="5943600"/>
          </a:xfrm>
          <a:prstGeom prst="ellipse">
            <a:avLst/>
          </a:prstGeom>
          <a:solidFill>
            <a:srgbClr val="2A2219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685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C7A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51560" y="1097280"/>
            <a:ext cx="9601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dirty="0">
                <a:solidFill>
                  <a:srgbClr val="FBF7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Design. Build.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dirty="0">
                <a:solidFill>
                  <a:srgbClr val="FBF7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1097280" y="2880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FC5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accountable partner from brief to handover.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03808" y="3977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B6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03808" y="436168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BF7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03808" y="487375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Brief, brand, and built-space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in one vision.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769968" y="3977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B6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769968" y="436168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BF7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69968" y="487375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Execution, procurement, and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under one roof.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336128" y="3977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B6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336128" y="436168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BF7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36128" y="487375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Turnkey handover, completed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— done right.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7A4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A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warm, editorial palette.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847088"/>
            <a:ext cx="1463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76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000" dirty="0"/>
          </a:p>
          <a:p>
            <a:pPr indent="0" marL="0">
              <a:buNone/>
            </a:pPr>
            <a:r>
              <a:rPr lang="en-US" sz="1000" spc="150" kern="0" dirty="0">
                <a:solidFill>
                  <a:srgbClr val="76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0" y="1828800"/>
            <a:ext cx="1572768" cy="1234440"/>
          </a:xfrm>
          <a:prstGeom prst="roundRect">
            <a:avLst>
              <a:gd name="adj" fmla="val 3704"/>
            </a:avLst>
          </a:prstGeom>
          <a:solidFill>
            <a:srgbClr val="11100E"/>
          </a:solidFill>
          <a:ln/>
          <a:effectLst>
            <a:outerShdw sx="100000" sy="100000" kx="0" ky="0" algn="bl" rotWithShape="0" blurRad="127000" dist="38100" dir="54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414016" y="260604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BF7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414016" y="1938528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FC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#11100E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041648" y="1828800"/>
            <a:ext cx="1572768" cy="1234440"/>
          </a:xfrm>
          <a:prstGeom prst="roundRect">
            <a:avLst>
              <a:gd name="adj" fmla="val 3704"/>
            </a:avLst>
          </a:prstGeom>
          <a:solidFill>
            <a:srgbClr val="221C17"/>
          </a:solidFill>
          <a:ln/>
          <a:effectLst>
            <a:outerShdw sx="100000" sy="100000" kx="0" ky="0" algn="bl" rotWithShape="0" blurRad="127000" dist="38100" dir="54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69664" y="260604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BF7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Umber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69664" y="1938528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FC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#221C17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797296" y="1828800"/>
            <a:ext cx="1572768" cy="1234440"/>
          </a:xfrm>
          <a:prstGeom prst="roundRect">
            <a:avLst>
              <a:gd name="adj" fmla="val 3704"/>
            </a:avLst>
          </a:prstGeom>
          <a:solidFill>
            <a:srgbClr val="2A2219"/>
          </a:solidFill>
          <a:ln/>
          <a:effectLst>
            <a:outerShdw sx="100000" sy="100000" kx="0" ky="0" algn="bl" rotWithShape="0" blurRad="127000" dist="38100" dir="54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25312" y="260604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BF7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Espresso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25312" y="1938528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FC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#2A2219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552944" y="1828800"/>
            <a:ext cx="1572768" cy="1234440"/>
          </a:xfrm>
          <a:prstGeom prst="roundRect">
            <a:avLst>
              <a:gd name="adj" fmla="val 3704"/>
            </a:avLst>
          </a:prstGeom>
          <a:solidFill>
            <a:srgbClr val="2A2622"/>
          </a:solidFill>
          <a:ln/>
          <a:effectLst>
            <a:outerShdw sx="100000" sy="100000" kx="0" ky="0" algn="bl" rotWithShape="0" blurRad="127000" dist="38100" dir="54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680960" y="260604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BF7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680960" y="1938528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FC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#2A2622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" y="3264408"/>
            <a:ext cx="1463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76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1000" dirty="0"/>
          </a:p>
          <a:p>
            <a:pPr indent="0" marL="0">
              <a:buNone/>
            </a:pPr>
            <a:r>
              <a:rPr lang="en-US" sz="1000" spc="150" kern="0" dirty="0">
                <a:solidFill>
                  <a:srgbClr val="76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0" y="3246120"/>
            <a:ext cx="1572768" cy="1234440"/>
          </a:xfrm>
          <a:prstGeom prst="roundRect">
            <a:avLst>
              <a:gd name="adj" fmla="val 3704"/>
            </a:avLst>
          </a:prstGeom>
          <a:solidFill>
            <a:srgbClr val="7A4728"/>
          </a:solidFill>
          <a:ln/>
          <a:effectLst>
            <a:outerShdw sx="100000" sy="100000" kx="0" ky="0" algn="bl" rotWithShape="0" blurRad="127000" dist="38100" dir="540000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414016" y="402336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BF7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Cognac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414016" y="3355848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FC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#7A4728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041648" y="3246120"/>
            <a:ext cx="1572768" cy="1234440"/>
          </a:xfrm>
          <a:prstGeom prst="roundRect">
            <a:avLst>
              <a:gd name="adj" fmla="val 3704"/>
            </a:avLst>
          </a:prstGeom>
          <a:solidFill>
            <a:srgbClr val="9B6B3D"/>
          </a:solidFill>
          <a:ln/>
          <a:effectLst>
            <a:outerShdw sx="100000" sy="100000" kx="0" ky="0" algn="bl" rotWithShape="0" blurRad="127000" dist="38100" dir="5400000">
              <a:srgbClr val="000000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169664" y="402336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BF7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Bronze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69664" y="3355848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FC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#9B6B3D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797296" y="3246120"/>
            <a:ext cx="1572768" cy="1234440"/>
          </a:xfrm>
          <a:prstGeom prst="roundRect">
            <a:avLst>
              <a:gd name="adj" fmla="val 3704"/>
            </a:avLst>
          </a:prstGeom>
          <a:solidFill>
            <a:srgbClr val="C7A46A"/>
          </a:solidFill>
          <a:ln/>
          <a:effectLst>
            <a:outerShdw sx="100000" sy="100000" kx="0" ky="0" algn="bl" rotWithShape="0" blurRad="127000" dist="38100" dir="5400000">
              <a:srgbClr val="000000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925312" y="402336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Antique Gold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925312" y="3355848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#C7A46A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552944" y="3246120"/>
            <a:ext cx="1572768" cy="1234440"/>
          </a:xfrm>
          <a:prstGeom prst="roundRect">
            <a:avLst>
              <a:gd name="adj" fmla="val 3704"/>
            </a:avLst>
          </a:prstGeom>
          <a:solidFill>
            <a:srgbClr val="DFC58C"/>
          </a:solidFill>
          <a:ln/>
          <a:effectLst>
            <a:outerShdw sx="100000" sy="100000" kx="0" ky="0" algn="bl" rotWithShape="0" blurRad="127000" dist="38100" dir="5400000">
              <a:srgbClr val="000000">
                <a:alpha val="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680960" y="402336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 Gold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680960" y="3355848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#DFC58C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22960" y="4681728"/>
            <a:ext cx="1463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76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NEUTRALS</a:t>
            </a:r>
            <a:endParaRPr lang="en-US" sz="1000" dirty="0"/>
          </a:p>
          <a:p>
            <a:pPr indent="0" marL="0">
              <a:buNone/>
            </a:pPr>
            <a:r>
              <a:rPr lang="en-US" sz="1000" spc="150" kern="0" dirty="0">
                <a:solidFill>
                  <a:srgbClr val="76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STATUS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286000" y="4663440"/>
            <a:ext cx="1572768" cy="1234440"/>
          </a:xfrm>
          <a:prstGeom prst="roundRect">
            <a:avLst>
              <a:gd name="adj" fmla="val 3704"/>
            </a:avLst>
          </a:prstGeom>
          <a:solidFill>
            <a:srgbClr val="FBF7EF"/>
          </a:solidFill>
          <a:ln w="12700">
            <a:solidFill>
              <a:srgbClr val="EBE3D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6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414016" y="544068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Ivory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414016" y="4773168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#FBF7EF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041648" y="4663440"/>
            <a:ext cx="1572768" cy="1234440"/>
          </a:xfrm>
          <a:prstGeom prst="roundRect">
            <a:avLst>
              <a:gd name="adj" fmla="val 3704"/>
            </a:avLst>
          </a:prstGeom>
          <a:solidFill>
            <a:srgbClr val="F4EEE4"/>
          </a:solidFill>
          <a:ln w="12700">
            <a:solidFill>
              <a:srgbClr val="EBE3D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6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169664" y="544068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Warm Paper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169664" y="4773168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#F4EEE4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797296" y="4663440"/>
            <a:ext cx="1572768" cy="1234440"/>
          </a:xfrm>
          <a:prstGeom prst="roundRect">
            <a:avLst>
              <a:gd name="adj" fmla="val 3704"/>
            </a:avLst>
          </a:prstGeom>
          <a:solidFill>
            <a:srgbClr val="EBE3D4"/>
          </a:solidFill>
          <a:ln w="12700">
            <a:solidFill>
              <a:srgbClr val="EBE3D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6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925312" y="544068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Cream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925312" y="4773168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#EBE3D4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552944" y="4663440"/>
            <a:ext cx="1572768" cy="1234440"/>
          </a:xfrm>
          <a:prstGeom prst="roundRect">
            <a:avLst>
              <a:gd name="adj" fmla="val 3704"/>
            </a:avLst>
          </a:prstGeom>
          <a:solidFill>
            <a:srgbClr val="766D63"/>
          </a:solidFill>
          <a:ln/>
          <a:effectLst>
            <a:outerShdw sx="100000" sy="100000" kx="0" ky="0" algn="bl" rotWithShape="0" blurRad="127000" dist="38100" dir="5400000">
              <a:srgbClr val="000000">
                <a:alpha val="6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680960" y="544068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BF7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Stone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680960" y="4773168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FC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#766D63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22960" y="610819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6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from grid: Chalk #F0E9DF  ·  Stone Muted #756C62  ·  Body #2F291F  |  Status accents: Error #8B3030  ·  WA Green #1A6B45 — reserved for utility, never decoration.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7A4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A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voices, one register.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074920" cy="2331720"/>
          </a:xfrm>
          <a:prstGeom prst="roundRect">
            <a:avLst>
              <a:gd name="adj" fmla="val 2353"/>
            </a:avLst>
          </a:prstGeom>
          <a:solidFill>
            <a:srgbClr val="FBF7EF"/>
          </a:solidFill>
          <a:ln/>
          <a:effectLst>
            <a:outerShdw sx="100000" sy="100000" kx="0" ky="0" algn="bl" rotWithShape="0" blurRad="152400" dist="50800" dir="54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2011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C7A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SERIF · HEADLINES &amp; EDITORIAL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51560" y="2212848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2A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3017520" y="2377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A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Cormorant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017520" y="276148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6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Regular + Italic · 500 Medium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" y="34290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66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“Design that delivers.”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5074920" cy="2331720"/>
          </a:xfrm>
          <a:prstGeom prst="roundRect">
            <a:avLst>
              <a:gd name="adj" fmla="val 2353"/>
            </a:avLst>
          </a:prstGeom>
          <a:solidFill>
            <a:srgbClr val="2A2219"/>
          </a:solidFill>
          <a:ln/>
          <a:effectLst>
            <a:outerShdw sx="100000" sy="100000" kx="0" ky="0" algn="bl" rotWithShape="0" blurRad="152400" dist="508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37960" y="2011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DFC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· UI, BODY &amp; LABELS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92240" y="2212848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FB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8458200" y="2377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B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Outfit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458200" y="276148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FC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Regular · 500 Medium · 600 SemiBold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37960" y="34290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design, healthcare planning, turnkey delivery.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" y="4434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76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SCALE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5210092"/>
            <a:ext cx="1920240" cy="8068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dirty="0">
                <a:solidFill>
                  <a:srgbClr val="2A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H1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611880" y="5329362"/>
            <a:ext cx="1920240" cy="64545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dirty="0">
                <a:solidFill>
                  <a:srgbClr val="2A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H2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309360" y="5428753"/>
            <a:ext cx="1920240" cy="5109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900" dirty="0">
                <a:solidFill>
                  <a:srgbClr val="2A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H3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915400" y="5508266"/>
            <a:ext cx="1920240" cy="4034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dirty="0">
                <a:solidFill>
                  <a:srgbClr val="2A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430000" y="5567901"/>
            <a:ext cx="1920240" cy="32272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2A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6263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6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fluid scale (clamp) — H1 4.75rem · H2 3.25rem · H3 1.625rem · H4 1.3125rem · H5 1.125rem · H6 0.9375rem · --text-body 1.0625rem · --text-caption 0.8125rem · --text-small 0.9375rem · --text-label 0.8125rem · --text-micro 0.75rem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E9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7A4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A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Rhythm, not clutter.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6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SPACING SCALE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68680" y="3977640"/>
            <a:ext cx="457200" cy="182880"/>
          </a:xfrm>
          <a:prstGeom prst="roundRect">
            <a:avLst>
              <a:gd name="adj" fmla="val 15000"/>
            </a:avLst>
          </a:prstGeom>
          <a:solidFill>
            <a:srgbClr val="C7A46A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" y="4233672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8px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495044" y="3794760"/>
            <a:ext cx="457200" cy="365760"/>
          </a:xfrm>
          <a:prstGeom prst="roundRect">
            <a:avLst>
              <a:gd name="adj" fmla="val 7500"/>
            </a:avLst>
          </a:prstGeom>
          <a:solidFill>
            <a:srgbClr val="C7A46A"/>
          </a:solidFill>
          <a:ln/>
        </p:spPr>
      </p:sp>
      <p:sp>
        <p:nvSpPr>
          <p:cNvPr id="8" name="Text 6"/>
          <p:cNvSpPr/>
          <p:nvPr/>
        </p:nvSpPr>
        <p:spPr>
          <a:xfrm>
            <a:off x="1385316" y="4233672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16px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21408" y="3611880"/>
            <a:ext cx="457200" cy="548640"/>
          </a:xfrm>
          <a:prstGeom prst="roundRect">
            <a:avLst>
              <a:gd name="adj" fmla="val 6000"/>
            </a:avLst>
          </a:prstGeom>
          <a:solidFill>
            <a:srgbClr val="C7A46A"/>
          </a:solidFill>
          <a:ln/>
        </p:spPr>
      </p:sp>
      <p:sp>
        <p:nvSpPr>
          <p:cNvPr id="10" name="Text 8"/>
          <p:cNvSpPr/>
          <p:nvPr/>
        </p:nvSpPr>
        <p:spPr>
          <a:xfrm>
            <a:off x="2011680" y="4233672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24px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7772" y="3429000"/>
            <a:ext cx="457200" cy="731520"/>
          </a:xfrm>
          <a:prstGeom prst="roundRect">
            <a:avLst>
              <a:gd name="adj" fmla="val 6000"/>
            </a:avLst>
          </a:prstGeom>
          <a:solidFill>
            <a:srgbClr val="C7A46A"/>
          </a:solidFill>
          <a:ln/>
        </p:spPr>
      </p:sp>
      <p:sp>
        <p:nvSpPr>
          <p:cNvPr id="12" name="Text 10"/>
          <p:cNvSpPr/>
          <p:nvPr/>
        </p:nvSpPr>
        <p:spPr>
          <a:xfrm>
            <a:off x="2638044" y="4233672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32px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74136" y="3246120"/>
            <a:ext cx="457200" cy="914400"/>
          </a:xfrm>
          <a:prstGeom prst="roundRect">
            <a:avLst>
              <a:gd name="adj" fmla="val 6000"/>
            </a:avLst>
          </a:prstGeom>
          <a:solidFill>
            <a:srgbClr val="C7A46A"/>
          </a:solidFill>
          <a:ln/>
        </p:spPr>
      </p:sp>
      <p:sp>
        <p:nvSpPr>
          <p:cNvPr id="14" name="Text 12"/>
          <p:cNvSpPr/>
          <p:nvPr/>
        </p:nvSpPr>
        <p:spPr>
          <a:xfrm>
            <a:off x="3264408" y="4233672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40px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000500" y="3063240"/>
            <a:ext cx="457200" cy="1097280"/>
          </a:xfrm>
          <a:prstGeom prst="roundRect">
            <a:avLst>
              <a:gd name="adj" fmla="val 6000"/>
            </a:avLst>
          </a:prstGeom>
          <a:solidFill>
            <a:srgbClr val="C7A46A"/>
          </a:solidFill>
          <a:ln/>
        </p:spPr>
      </p:sp>
      <p:sp>
        <p:nvSpPr>
          <p:cNvPr id="16" name="Text 14"/>
          <p:cNvSpPr/>
          <p:nvPr/>
        </p:nvSpPr>
        <p:spPr>
          <a:xfrm>
            <a:off x="3890772" y="4233672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48px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26864" y="2697480"/>
            <a:ext cx="457200" cy="1463040"/>
          </a:xfrm>
          <a:prstGeom prst="roundRect">
            <a:avLst>
              <a:gd name="adj" fmla="val 6000"/>
            </a:avLst>
          </a:prstGeom>
          <a:solidFill>
            <a:srgbClr val="C7A46A"/>
          </a:solidFill>
          <a:ln/>
        </p:spPr>
      </p:sp>
      <p:sp>
        <p:nvSpPr>
          <p:cNvPr id="18" name="Text 16"/>
          <p:cNvSpPr/>
          <p:nvPr/>
        </p:nvSpPr>
        <p:spPr>
          <a:xfrm>
            <a:off x="4517136" y="4233672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64px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253228" y="2331720"/>
            <a:ext cx="457200" cy="1828800"/>
          </a:xfrm>
          <a:prstGeom prst="roundRect">
            <a:avLst>
              <a:gd name="adj" fmla="val 6000"/>
            </a:avLst>
          </a:prstGeom>
          <a:solidFill>
            <a:srgbClr val="C7A46A"/>
          </a:solidFill>
          <a:ln/>
        </p:spPr>
      </p:sp>
      <p:sp>
        <p:nvSpPr>
          <p:cNvPr id="20" name="Text 18"/>
          <p:cNvSpPr/>
          <p:nvPr/>
        </p:nvSpPr>
        <p:spPr>
          <a:xfrm>
            <a:off x="5143500" y="4233672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80px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" y="470916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66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8px base unit, scaling to --space-10 at 80px.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78040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6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178040" y="2240280"/>
            <a:ext cx="1828800" cy="1188720"/>
          </a:xfrm>
          <a:prstGeom prst="roundRect">
            <a:avLst>
              <a:gd name="adj" fmla="val 4615"/>
            </a:avLst>
          </a:prstGeom>
          <a:solidFill>
            <a:srgbClr val="FBF7EF"/>
          </a:solidFill>
          <a:ln/>
          <a:effectLst>
            <a:outerShdw sx="100000" sy="100000" kx="0" ky="0" algn="bl" rotWithShape="0" blurRad="152400" dist="50800" dir="5400000">
              <a:srgbClr val="000000">
                <a:alpha val="7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178040" y="3611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6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326880" y="2240280"/>
            <a:ext cx="1828800" cy="1188720"/>
          </a:xfrm>
          <a:prstGeom prst="roundRect">
            <a:avLst>
              <a:gd name="adj" fmla="val 4615"/>
            </a:avLst>
          </a:prstGeom>
          <a:solidFill>
            <a:srgbClr val="FBF7EF"/>
          </a:solidFill>
          <a:ln/>
          <a:effectLst>
            <a:outerShdw sx="100000" sy="100000" kx="0" ky="0" algn="bl" rotWithShape="0" blurRad="304800" dist="101600" dir="54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326880" y="3611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6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22960" y="5257800"/>
            <a:ext cx="10515600" cy="1051560"/>
          </a:xfrm>
          <a:prstGeom prst="roundRect">
            <a:avLst>
              <a:gd name="adj" fmla="val 6087"/>
            </a:avLst>
          </a:prstGeom>
          <a:solidFill>
            <a:srgbClr val="FBF7EF"/>
          </a:solidFill>
          <a:ln/>
          <a:effectLst>
            <a:outerShdw sx="100000" sy="100000" kx="0" ky="0" algn="bl" rotWithShape="0" blurRad="127000" dist="38100" dir="5400000">
              <a:srgbClr val="000000">
                <a:alpha val="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051560" y="5440680"/>
            <a:ext cx="23545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6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MAX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51560" y="5742432"/>
            <a:ext cx="23545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A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1200px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3680460" y="5440680"/>
            <a:ext cx="23545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6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WIDE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680460" y="5742432"/>
            <a:ext cx="23545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A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1320px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6309360" y="5440680"/>
            <a:ext cx="23545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6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PAD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09360" y="5742432"/>
            <a:ext cx="23545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A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16–40px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8938260" y="5440680"/>
            <a:ext cx="23545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6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OFFSET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938260" y="5742432"/>
            <a:ext cx="23545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A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4.5–5.75rem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A22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C7A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LANGUAGE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BF7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Warmth, light, restraint.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589520" y="1463040"/>
            <a:ext cx="3749040" cy="4937760"/>
          </a:xfrm>
          <a:prstGeom prst="roundRect">
            <a:avLst>
              <a:gd name="adj" fmla="val 39024"/>
            </a:avLst>
          </a:prstGeom>
          <a:solidFill>
            <a:srgbClr val="DFC58C">
              <a:alpha val="22000"/>
            </a:srgbClr>
          </a:solidFill>
          <a:ln w="15875">
            <a:solidFill>
              <a:srgbClr val="C7A4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09560" y="1737360"/>
            <a:ext cx="0" cy="4389120"/>
          </a:xfrm>
          <a:prstGeom prst="line">
            <a:avLst/>
          </a:prstGeom>
          <a:noFill/>
          <a:ln w="12700">
            <a:solidFill>
              <a:srgbClr val="C7A46A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45880" y="1737360"/>
            <a:ext cx="0" cy="4389120"/>
          </a:xfrm>
          <a:prstGeom prst="line">
            <a:avLst/>
          </a:prstGeom>
          <a:noFill/>
          <a:ln w="12700">
            <a:solidFill>
              <a:srgbClr val="C7A46A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2200" y="1737360"/>
            <a:ext cx="0" cy="4389120"/>
          </a:xfrm>
          <a:prstGeom prst="line">
            <a:avLst/>
          </a:prstGeom>
          <a:noFill/>
          <a:ln w="12700">
            <a:solidFill>
              <a:srgbClr val="C7A46A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0" y="3931920"/>
            <a:ext cx="3200400" cy="0"/>
          </a:xfrm>
          <a:prstGeom prst="line">
            <a:avLst/>
          </a:prstGeom>
          <a:noFill/>
          <a:ln w="12700">
            <a:solidFill>
              <a:srgbClr val="C7A46A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011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DFC5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Editorial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25146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Photography reads like a magazine spread, not a catalogue.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3154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DFC5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Tactile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4400" y="36576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and grain given room to speak for themselves.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4400" y="4297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DFC5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Considered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14400" y="48006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composition earns its whitespace.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14400" y="5623560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Interiors photographed in soft, natural light — never staged, always lived-in.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7A4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A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work happens.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64312" y="2148840"/>
            <a:ext cx="2011680" cy="3383280"/>
          </a:xfrm>
          <a:prstGeom prst="roundRect">
            <a:avLst>
              <a:gd name="adj" fmla="val 3636"/>
            </a:avLst>
          </a:prstGeom>
          <a:solidFill>
            <a:srgbClr val="FBF7EF"/>
          </a:solidFill>
          <a:ln/>
          <a:effectLst>
            <a:outerShdw sx="100000" sy="100000" kx="0" ky="0" algn="bl" rotWithShape="0" blurRad="177800" dist="63500" dir="5400000">
              <a:srgbClr val="000000">
                <a:alpha val="7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1824" y="2651760"/>
            <a:ext cx="676656" cy="6766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5752" y="35935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A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01472" y="4087368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6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Calm, wayfinding-led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6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environments.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877160" y="2148840"/>
            <a:ext cx="2011680" cy="3383280"/>
          </a:xfrm>
          <a:prstGeom prst="roundRect">
            <a:avLst>
              <a:gd name="adj" fmla="val 3636"/>
            </a:avLst>
          </a:prstGeom>
          <a:solidFill>
            <a:srgbClr val="FBF7EF"/>
          </a:solidFill>
          <a:ln/>
          <a:effectLst>
            <a:outerShdw sx="100000" sy="100000" kx="0" ky="0" algn="bl" rotWithShape="0" blurRad="177800" dist="63500" dir="5400000">
              <a:srgbClr val="000000">
                <a:alpha val="7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4672" y="2651760"/>
            <a:ext cx="676656" cy="6766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968600" y="35935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A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Workplace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3014320" y="4087368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6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Offices built around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6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and gathering.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090008" y="2148840"/>
            <a:ext cx="2011680" cy="3383280"/>
          </a:xfrm>
          <a:prstGeom prst="roundRect">
            <a:avLst>
              <a:gd name="adj" fmla="val 3636"/>
            </a:avLst>
          </a:prstGeom>
          <a:solidFill>
            <a:srgbClr val="FBF7EF"/>
          </a:solidFill>
          <a:ln/>
          <a:effectLst>
            <a:outerShdw sx="100000" sy="100000" kx="0" ky="0" algn="bl" rotWithShape="0" blurRad="177800" dist="63500" dir="5400000">
              <a:srgbClr val="000000">
                <a:alpha val="7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7520" y="2651760"/>
            <a:ext cx="676656" cy="6766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181448" y="35935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A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5227168" y="4087368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6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Storefronts that slow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6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down, on purpose.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7302856" y="2148840"/>
            <a:ext cx="2011680" cy="3383280"/>
          </a:xfrm>
          <a:prstGeom prst="roundRect">
            <a:avLst>
              <a:gd name="adj" fmla="val 3636"/>
            </a:avLst>
          </a:prstGeom>
          <a:solidFill>
            <a:srgbClr val="FBF7EF"/>
          </a:solidFill>
          <a:ln/>
          <a:effectLst>
            <a:outerShdw sx="100000" sy="100000" kx="0" ky="0" algn="bl" rotWithShape="0" blurRad="177800" dist="63500" dir="5400000">
              <a:srgbClr val="000000">
                <a:alpha val="7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0368" y="2651760"/>
            <a:ext cx="676656" cy="6766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394296" y="35935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A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Residential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7440016" y="4087368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6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 designed for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6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quiet, daily ritual.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9515704" y="2148840"/>
            <a:ext cx="2011680" cy="3383280"/>
          </a:xfrm>
          <a:prstGeom prst="roundRect">
            <a:avLst>
              <a:gd name="adj" fmla="val 3636"/>
            </a:avLst>
          </a:prstGeom>
          <a:solidFill>
            <a:srgbClr val="FBF7EF"/>
          </a:solidFill>
          <a:ln/>
          <a:effectLst>
            <a:outerShdw sx="100000" sy="100000" kx="0" ky="0" algn="bl" rotWithShape="0" blurRad="177800" dist="63500" dir="5400000">
              <a:srgbClr val="000000">
                <a:alpha val="7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3216" y="2651760"/>
            <a:ext cx="676656" cy="67665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607144" y="35935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A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</a:t>
            </a:r>
            <a:endParaRPr lang="en-US" sz="1700" dirty="0"/>
          </a:p>
        </p:txBody>
      </p:sp>
      <p:sp>
        <p:nvSpPr>
          <p:cNvPr id="23" name="Text 16"/>
          <p:cNvSpPr/>
          <p:nvPr/>
        </p:nvSpPr>
        <p:spPr>
          <a:xfrm>
            <a:off x="9652864" y="4087368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6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Site-ready detail from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6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to commissioning.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C7A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&amp; BUILD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BF7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speed and precision.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478128" y="1920240"/>
            <a:ext cx="2834640" cy="2331720"/>
          </a:xfrm>
          <a:prstGeom prst="roundRect">
            <a:avLst>
              <a:gd name="adj" fmla="val 3137"/>
            </a:avLst>
          </a:prstGeom>
          <a:solidFill>
            <a:srgbClr val="221C17"/>
          </a:solidFill>
          <a:ln/>
          <a:effectLst>
            <a:outerShdw sx="100000" sy="100000" kx="0" ky="0" algn="bl" rotWithShape="0" blurRad="177800" dist="63500" dir="5400000">
              <a:srgbClr val="000000">
                <a:alpha val="2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1400" y="2212848"/>
            <a:ext cx="768096" cy="7680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15288" y="3154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BF7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Astro 6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615288" y="35478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50" kern="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· TypeScript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678528" y="1920240"/>
            <a:ext cx="2834640" cy="2331720"/>
          </a:xfrm>
          <a:prstGeom prst="roundRect">
            <a:avLst>
              <a:gd name="adj" fmla="val 3137"/>
            </a:avLst>
          </a:prstGeom>
          <a:solidFill>
            <a:srgbClr val="221C17"/>
          </a:solidFill>
          <a:ln/>
          <a:effectLst>
            <a:outerShdw sx="100000" sy="100000" kx="0" ky="0" algn="bl" rotWithShape="0" blurRad="177800" dist="63500" dir="5400000">
              <a:srgbClr val="000000">
                <a:alpha val="2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1800" y="2212848"/>
            <a:ext cx="768096" cy="7680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815688" y="3154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BF7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Plain CSS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815688" y="35478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50" kern="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Tailwind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7878928" y="1920240"/>
            <a:ext cx="2834640" cy="2331720"/>
          </a:xfrm>
          <a:prstGeom prst="roundRect">
            <a:avLst>
              <a:gd name="adj" fmla="val 3137"/>
            </a:avLst>
          </a:prstGeom>
          <a:solidFill>
            <a:srgbClr val="221C17"/>
          </a:solidFill>
          <a:ln/>
          <a:effectLst>
            <a:outerShdw sx="100000" sy="100000" kx="0" ky="0" algn="bl" rotWithShape="0" blurRad="177800" dist="63500" dir="5400000">
              <a:srgbClr val="000000">
                <a:alpha val="2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2200" y="2212848"/>
            <a:ext cx="768096" cy="7680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16088" y="3154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BF7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Vercel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8016088" y="35478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50" kern="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Auto-deploy on push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822960" y="4617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· src/content/{services,projects,insights}   —   DATA · src/data/site.json   —   IMAGES · public/images/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1737360" y="5212080"/>
            <a:ext cx="8686800" cy="640080"/>
          </a:xfrm>
          <a:prstGeom prst="roundRect">
            <a:avLst>
              <a:gd name="adj" fmla="val 11429"/>
            </a:avLst>
          </a:prstGeom>
          <a:solidFill>
            <a:srgbClr val="221C17"/>
          </a:solidFill>
          <a:ln w="12700">
            <a:solidFill>
              <a:srgbClr val="2A2219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1965960" y="526694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C7A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 — RUN BEFORE EVERY COMMIT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1965960" y="55412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FC5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validate:images &amp;&amp; npm run build &amp;&amp; npm run check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7A4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A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clear path, brief to handover.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52932" y="2057400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2A2219"/>
          </a:solidFill>
          <a:ln/>
          <a:effectLst>
            <a:outerShdw sx="100000" sy="100000" kx="0" ky="0" algn="bl" rotWithShape="0" blurRad="127000" dist="38100" dir="54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2932" y="205740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BF7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836012" y="2537460"/>
            <a:ext cx="292608" cy="0"/>
          </a:xfrm>
          <a:prstGeom prst="line">
            <a:avLst/>
          </a:prstGeom>
          <a:noFill/>
          <a:ln w="19050">
            <a:solidFill>
              <a:srgbClr val="C7A4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82900" y="2496312"/>
            <a:ext cx="82296" cy="82296"/>
          </a:xfrm>
          <a:prstGeom prst="ellipse">
            <a:avLst/>
          </a:prstGeom>
          <a:solidFill>
            <a:srgbClr val="C7A46A"/>
          </a:solidFill>
          <a:ln/>
        </p:spPr>
      </p:sp>
      <p:sp>
        <p:nvSpPr>
          <p:cNvPr id="8" name="Shape 6"/>
          <p:cNvSpPr/>
          <p:nvPr/>
        </p:nvSpPr>
        <p:spPr>
          <a:xfrm>
            <a:off x="3128620" y="2057400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F4EEE4"/>
          </a:solidFill>
          <a:ln w="12700">
            <a:solidFill>
              <a:srgbClr val="EBE3D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128620" y="205740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911700" y="2537460"/>
            <a:ext cx="292608" cy="0"/>
          </a:xfrm>
          <a:prstGeom prst="line">
            <a:avLst/>
          </a:prstGeom>
          <a:noFill/>
          <a:ln w="19050">
            <a:solidFill>
              <a:srgbClr val="C7A46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58588" y="2496312"/>
            <a:ext cx="82296" cy="82296"/>
          </a:xfrm>
          <a:prstGeom prst="ellipse">
            <a:avLst/>
          </a:prstGeom>
          <a:solidFill>
            <a:srgbClr val="C7A46A"/>
          </a:solidFill>
          <a:ln/>
        </p:spPr>
      </p:sp>
      <p:sp>
        <p:nvSpPr>
          <p:cNvPr id="12" name="Shape 10"/>
          <p:cNvSpPr/>
          <p:nvPr/>
        </p:nvSpPr>
        <p:spPr>
          <a:xfrm>
            <a:off x="5204308" y="2057400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F4EEE4"/>
          </a:solidFill>
          <a:ln w="12700">
            <a:solidFill>
              <a:srgbClr val="EBE3D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04308" y="205740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987388" y="2537460"/>
            <a:ext cx="292608" cy="0"/>
          </a:xfrm>
          <a:prstGeom prst="line">
            <a:avLst/>
          </a:prstGeom>
          <a:noFill/>
          <a:ln w="19050">
            <a:solidFill>
              <a:srgbClr val="C7A46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34276" y="2496312"/>
            <a:ext cx="82296" cy="82296"/>
          </a:xfrm>
          <a:prstGeom prst="ellipse">
            <a:avLst/>
          </a:prstGeom>
          <a:solidFill>
            <a:srgbClr val="C7A46A"/>
          </a:solidFill>
          <a:ln/>
        </p:spPr>
      </p:sp>
      <p:sp>
        <p:nvSpPr>
          <p:cNvPr id="16" name="Shape 14"/>
          <p:cNvSpPr/>
          <p:nvPr/>
        </p:nvSpPr>
        <p:spPr>
          <a:xfrm>
            <a:off x="7279996" y="2057400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F4EEE4"/>
          </a:solidFill>
          <a:ln w="12700">
            <a:solidFill>
              <a:srgbClr val="EBE3D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79996" y="205740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063076" y="2537460"/>
            <a:ext cx="292608" cy="0"/>
          </a:xfrm>
          <a:prstGeom prst="line">
            <a:avLst/>
          </a:prstGeom>
          <a:noFill/>
          <a:ln w="19050">
            <a:solidFill>
              <a:srgbClr val="C7A46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09964" y="2496312"/>
            <a:ext cx="82296" cy="82296"/>
          </a:xfrm>
          <a:prstGeom prst="ellipse">
            <a:avLst/>
          </a:prstGeom>
          <a:solidFill>
            <a:srgbClr val="C7A46A"/>
          </a:solidFill>
          <a:ln/>
        </p:spPr>
      </p:sp>
      <p:sp>
        <p:nvSpPr>
          <p:cNvPr id="20" name="Shape 18"/>
          <p:cNvSpPr/>
          <p:nvPr/>
        </p:nvSpPr>
        <p:spPr>
          <a:xfrm>
            <a:off x="9355684" y="2057400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F4EEE4"/>
          </a:solidFill>
          <a:ln w="12700">
            <a:solidFill>
              <a:srgbClr val="EBE3D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355684" y="205740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52932" y="318211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6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+about + team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128620" y="318211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6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practice areas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204308" y="318211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6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index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279996" y="318211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6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articles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355684" y="318211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6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+ map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280160" y="4160520"/>
            <a:ext cx="9601200" cy="0"/>
          </a:xfrm>
          <a:prstGeom prst="line">
            <a:avLst/>
          </a:prstGeom>
          <a:noFill/>
          <a:ln w="12700">
            <a:solidFill>
              <a:srgbClr val="EBE3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80160" y="4389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6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PAGES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280160" y="4754880"/>
            <a:ext cx="1828800" cy="502920"/>
          </a:xfrm>
          <a:prstGeom prst="roundRect">
            <a:avLst>
              <a:gd name="adj" fmla="val 49091"/>
            </a:avLst>
          </a:prstGeom>
          <a:ln w="12700">
            <a:solidFill>
              <a:srgbClr val="EBE3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80160" y="4754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46120" y="4754880"/>
            <a:ext cx="1828800" cy="502920"/>
          </a:xfrm>
          <a:prstGeom prst="roundRect">
            <a:avLst>
              <a:gd name="adj" fmla="val 49091"/>
            </a:avLst>
          </a:prstGeom>
          <a:ln w="12700">
            <a:solidFill>
              <a:srgbClr val="EBE3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46120" y="4754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Policy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212080" y="4754880"/>
            <a:ext cx="1828800" cy="502920"/>
          </a:xfrm>
          <a:prstGeom prst="roundRect">
            <a:avLst>
              <a:gd name="adj" fmla="val 49091"/>
            </a:avLst>
          </a:prstGeom>
          <a:ln w="12700">
            <a:solidFill>
              <a:srgbClr val="EBE3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12080" y="4754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 of Use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178040" y="4754880"/>
            <a:ext cx="1828800" cy="502920"/>
          </a:xfrm>
          <a:prstGeom prst="roundRect">
            <a:avLst>
              <a:gd name="adj" fmla="val 49091"/>
            </a:avLst>
          </a:prstGeom>
          <a:ln w="12700">
            <a:solidFill>
              <a:srgbClr val="EBE3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78040" y="4754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9144000" y="4754880"/>
            <a:ext cx="1828800" cy="502920"/>
          </a:xfrm>
          <a:prstGeom prst="roundRect">
            <a:avLst>
              <a:gd name="adj" fmla="val 49091"/>
            </a:avLst>
          </a:prstGeom>
          <a:ln w="12700">
            <a:solidFill>
              <a:srgbClr val="EBE3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0" y="4754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66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service links to case studies; each project links to insight articles.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 name="Slide 11">
    <p:bg>
      <p:bgPr>
        <a:solidFill>
          <a:srgbClr val="221C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2286000"/>
            <a:ext cx="5486400" cy="5486400"/>
          </a:xfrm>
          <a:prstGeom prst="ellipse">
            <a:avLst/>
          </a:prstGeom>
          <a:solidFill>
            <a:srgbClr val="2A2219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C7A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BF7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Vencore Design Co.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822960" cy="0"/>
          </a:xfrm>
          <a:prstGeom prst="line">
            <a:avLst/>
          </a:prstGeom>
          <a:noFill/>
          <a:ln w="15875">
            <a:solidFill>
              <a:srgbClr val="9B6B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743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743200" y="27432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B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vencoredesign.com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43200" y="32004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B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info@vencoredesign.com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3657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743200" y="36576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B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+91 70931 27880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2960" y="4114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743200" y="41148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B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+91 98660 14664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2960" y="5166360"/>
            <a:ext cx="7863840" cy="0"/>
          </a:xfrm>
          <a:prstGeom prst="line">
            <a:avLst/>
          </a:prstGeom>
          <a:noFill/>
          <a:ln w="12700">
            <a:solidFill>
              <a:srgbClr val="2A221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349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9A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743200" y="53492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B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No. 9-24/9B/2, 9th Floor, Vaishnavi Cymbol,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B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District, Nanakramguda, Hyderabad — 500032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Vencore Design Co. — Brand &amp; UI Reference</dc:title>
  <dc:subject>PptxGenJS Presentation</dc:subject>
  <dc:creator>Vencore Design Co.</dc:creator>
  <cp:lastModifiedBy>Vencore Design Co.</cp:lastModifiedBy>
  <cp:revision>1</cp:revision>
  <dcterms:created xsi:type="dcterms:W3CDTF">2026-07-07T03:22:14Z</dcterms:created>
  <dcterms:modified xsi:type="dcterms:W3CDTF">2026-07-07T03:22:14Z</dcterms:modified>
</cp:coreProperties>
</file>