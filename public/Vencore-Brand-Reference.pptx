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943600" cy="5943600"/>
          </a:xfrm>
          <a:prstGeom prst="ellipse">
            <a:avLst/>
          </a:prstGeom>
          <a:solidFill>
            <a:srgbClr val="2A2219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600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HANDOVER  · 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Vencore Design Co.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&amp; UI Reference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4069080"/>
            <a:ext cx="1005840" cy="0"/>
          </a:xfrm>
          <a:prstGeom prst="line">
            <a:avLst/>
          </a:prstGeom>
          <a:noFill/>
          <a:ln w="15875">
            <a:solidFill>
              <a:srgbClr val="9B6B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 ·  COMMERCIAL  ·  RETAIL &amp; RESTAURANTS  ·  RESIDENTIAL  ·  HOSPITALITY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2A221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989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vencoredesign.com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 6  ·  docs/brand-guide.html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21C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206240"/>
            <a:ext cx="5943600" cy="5943600"/>
          </a:xfrm>
          <a:prstGeom prst="ellipse">
            <a:avLst/>
          </a:prstGeom>
          <a:solidFill>
            <a:srgbClr val="2A2219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09728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" y="1097280"/>
            <a:ext cx="96012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that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delivers.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97280" y="28803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FC5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Turnkey interiors, from brief to handover.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0380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0380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0380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Brief, brand, and building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in one conversation.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6996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6996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Craft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6996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light, and detail,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before site.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336128" y="3977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B6B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336128" y="4361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36128" y="487375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execution, handed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once — done right.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warm, editorial palette.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4708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286000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11100E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414016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14016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#11100E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41648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69664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Umber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69664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#221C17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797296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25312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25312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#2A2219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552944" y="182880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2A2622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680960" y="260604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680960" y="193852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#2A2622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" y="326440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0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7A4728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414016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Cognac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414016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#7A4728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041648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9B6B3D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169664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69664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#9B6B3D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97296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C7A46A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25312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Antique Gold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25312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#C7A46A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52944" y="324612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DFC58C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680960" y="402336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Gold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680960" y="335584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#DFC58C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" y="4681728"/>
            <a:ext cx="1463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NEUTRALS</a:t>
            </a:r>
            <a:endParaRPr lang="en-US" sz="1000" dirty="0"/>
          </a:p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STATUS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FBF7EF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414016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Ivory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414016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#FBF7EF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041648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169664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Paper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169664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#F4EEE4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797296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EBE3D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925312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Cream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25312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#EBE3D4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552944" y="4663440"/>
            <a:ext cx="1572768" cy="1234440"/>
          </a:xfrm>
          <a:prstGeom prst="roundRect">
            <a:avLst>
              <a:gd name="adj" fmla="val 3704"/>
            </a:avLst>
          </a:prstGeom>
          <a:solidFill>
            <a:srgbClr val="766D63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680960" y="54406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80960" y="4773168"/>
            <a:ext cx="13167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#766D63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22960" y="610819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from grid: Chalk #F0E9DF  ·  Stone Muted #756C62  ·  Body #2F291F  |  Status accents: Error #8B3030  ·  WA Green #1A6B45 — reserved for utility, never decoration.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voices, one register.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74920" cy="2331720"/>
          </a:xfrm>
          <a:prstGeom prst="roundRect">
            <a:avLst>
              <a:gd name="adj" fmla="val 2353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52400" dist="508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 · HEADLINES &amp; EDITORIAL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Aa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301752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Cormorant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017520" y="27614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Regular + Italic · 500 Medium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“Design that delivers.”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074920" cy="2331720"/>
          </a:xfrm>
          <a:prstGeom prst="roundRect">
            <a:avLst>
              <a:gd name="adj" fmla="val 2353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52400" dist="508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011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50" kern="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· UI, BODY &amp; LABELS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92240" y="2212848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845820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458200" y="27614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FC5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Regular · 500 Medium · 600 SemiBold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3796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9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 design, healthcare planning, turnkey delivery.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SCALE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5210092"/>
            <a:ext cx="1920240" cy="80682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H1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611880" y="5329362"/>
            <a:ext cx="1920240" cy="64545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H2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309360" y="5428753"/>
            <a:ext cx="1920240" cy="5109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H3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915400" y="5508266"/>
            <a:ext cx="1920240" cy="4034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0" y="5567901"/>
            <a:ext cx="1920240" cy="32272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fluid scale (clamp) — H1 4.75rem · H2 3.25rem · H3 1.625rem · H4 1.3125rem · H5 1.125rem · H6 0.9375rem · --text-body 1.0625rem · --text-caption 0.8125rem · --text-small 0.9375rem · --text-label 0.8125rem · --text-micro 0.75rem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Interface, refined.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10515600" cy="2468880"/>
          </a:xfrm>
          <a:prstGeom prst="roundRect">
            <a:avLst>
              <a:gd name="adj" fmla="val 2963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0848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43000" y="2450592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A2219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4505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FBF7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BRIEFING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977640" y="2450592"/>
            <a:ext cx="2286000" cy="566928"/>
          </a:xfrm>
          <a:prstGeom prst="roundRect">
            <a:avLst>
              <a:gd name="adj" fmla="val 50000"/>
            </a:avLst>
          </a:prstGeom>
          <a:ln w="15875">
            <a:solidFill>
              <a:srgbClr val="9B6B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450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B6B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PROJECTS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46520" y="2450592"/>
            <a:ext cx="1874520" cy="566928"/>
          </a:xfrm>
          <a:prstGeom prst="roundRect">
            <a:avLst>
              <a:gd name="adj" fmla="val 50000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4505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0" y="2450592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· Outline · Ghost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3310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PILLS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43000" y="3657600"/>
            <a:ext cx="1179576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36576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23744" y="3657600"/>
            <a:ext cx="1100023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23744" y="3657600"/>
            <a:ext cx="11000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WORKPLACE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24935" y="3657600"/>
            <a:ext cx="1020470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4935" y="3657600"/>
            <a:ext cx="10204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46574" y="3657600"/>
            <a:ext cx="861365" cy="420624"/>
          </a:xfrm>
          <a:prstGeom prst="roundRect">
            <a:avLst>
              <a:gd name="adj" fmla="val 50000"/>
            </a:avLst>
          </a:prstGeom>
          <a:solidFill>
            <a:srgbClr val="DFC58C">
              <a:alpha val="35000"/>
            </a:srgbClr>
          </a:solidFill>
          <a:ln w="9525">
            <a:solidFill>
              <a:srgbClr val="C7A4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6574" y="3657600"/>
            <a:ext cx="86136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22960" y="452628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43000" y="4736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RING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43000" y="5120640"/>
            <a:ext cx="2377440" cy="457200"/>
          </a:xfrm>
          <a:prstGeom prst="roundRect">
            <a:avLst>
              <a:gd name="adj" fmla="val 16000"/>
            </a:avLst>
          </a:prstGeom>
          <a:solidFill>
            <a:srgbClr val="FBF7EF"/>
          </a:solidFill>
          <a:ln w="19050">
            <a:solidFill>
              <a:srgbClr val="C7A4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5120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F2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element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43000" y="57424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2px solid gold · 3px offset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17920" y="452628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4EEE4"/>
          </a:solidFill>
          <a:ln/>
          <a:effectLst>
            <a:outerShdw sx="100000" sy="100000" kx="0" ky="0" algn="bl" rotWithShape="0" blurRad="177800" dist="508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37960" y="47365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RADII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537960" y="5138928"/>
            <a:ext cx="777240" cy="594360"/>
          </a:xfrm>
          <a:prstGeom prst="roundRect">
            <a:avLst>
              <a:gd name="adj" fmla="val 6154"/>
            </a:avLst>
          </a:prstGeom>
          <a:solidFill>
            <a:srgbClr val="EBE3D4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571232" y="5138928"/>
            <a:ext cx="777240" cy="594360"/>
          </a:xfrm>
          <a:prstGeom prst="roundRect">
            <a:avLst>
              <a:gd name="adj" fmla="val 13846"/>
            </a:avLst>
          </a:prstGeom>
          <a:solidFill>
            <a:srgbClr val="EBE3D4"/>
          </a:solidFill>
          <a:ln/>
        </p:spPr>
      </p:sp>
      <p:sp>
        <p:nvSpPr>
          <p:cNvPr id="32" name="Text 30"/>
          <p:cNvSpPr/>
          <p:nvPr/>
        </p:nvSpPr>
        <p:spPr>
          <a:xfrm>
            <a:off x="7571232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604504" y="5138928"/>
            <a:ext cx="777240" cy="594360"/>
          </a:xfrm>
          <a:prstGeom prst="roundRect">
            <a:avLst>
              <a:gd name="adj" fmla="val 21538"/>
            </a:avLst>
          </a:prstGeom>
          <a:solidFill>
            <a:srgbClr val="EBE3D4"/>
          </a:solidFill>
          <a:ln/>
        </p:spPr>
      </p:sp>
      <p:sp>
        <p:nvSpPr>
          <p:cNvPr id="34" name="Text 32"/>
          <p:cNvSpPr/>
          <p:nvPr/>
        </p:nvSpPr>
        <p:spPr>
          <a:xfrm>
            <a:off x="8604504" y="58064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12px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37776" y="5138928"/>
            <a:ext cx="1005840" cy="594360"/>
          </a:xfrm>
          <a:prstGeom prst="roundRect">
            <a:avLst>
              <a:gd name="adj" fmla="val 43077"/>
            </a:avLst>
          </a:prstGeom>
          <a:solidFill>
            <a:srgbClr val="EBE3D4"/>
          </a:solidFill>
          <a:ln/>
        </p:spPr>
      </p:sp>
      <p:sp>
        <p:nvSpPr>
          <p:cNvPr id="36" name="Text 34"/>
          <p:cNvSpPr/>
          <p:nvPr/>
        </p:nvSpPr>
        <p:spPr>
          <a:xfrm>
            <a:off x="9637776" y="5806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9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Rhythm, not clutter.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 SCALE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68680" y="3977640"/>
            <a:ext cx="457200" cy="182880"/>
          </a:xfrm>
          <a:prstGeom prst="roundRect">
            <a:avLst>
              <a:gd name="adj" fmla="val 15000"/>
            </a:avLst>
          </a:prstGeom>
          <a:solidFill>
            <a:srgbClr val="C7A46A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8px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495044" y="3794760"/>
            <a:ext cx="457200" cy="365760"/>
          </a:xfrm>
          <a:prstGeom prst="roundRect">
            <a:avLst>
              <a:gd name="adj" fmla="val 7500"/>
            </a:avLst>
          </a:prstGeom>
          <a:solidFill>
            <a:srgbClr val="C7A46A"/>
          </a:solidFill>
          <a:ln/>
        </p:spPr>
      </p:sp>
      <p:sp>
        <p:nvSpPr>
          <p:cNvPr id="8" name="Text 6"/>
          <p:cNvSpPr/>
          <p:nvPr/>
        </p:nvSpPr>
        <p:spPr>
          <a:xfrm>
            <a:off x="1385316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16px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21408" y="3611880"/>
            <a:ext cx="457200" cy="54864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24px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7772" y="3429000"/>
            <a:ext cx="457200" cy="73152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32px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74136" y="3246120"/>
            <a:ext cx="457200" cy="91440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4" name="Text 12"/>
          <p:cNvSpPr/>
          <p:nvPr/>
        </p:nvSpPr>
        <p:spPr>
          <a:xfrm>
            <a:off x="3264408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40px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00500" y="3063240"/>
            <a:ext cx="457200" cy="109728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6" name="Text 14"/>
          <p:cNvSpPr/>
          <p:nvPr/>
        </p:nvSpPr>
        <p:spPr>
          <a:xfrm>
            <a:off x="3890772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48px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2697480"/>
            <a:ext cx="457200" cy="146304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18" name="Text 16"/>
          <p:cNvSpPr/>
          <p:nvPr/>
        </p:nvSpPr>
        <p:spPr>
          <a:xfrm>
            <a:off x="4517136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64px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253228" y="2331720"/>
            <a:ext cx="457200" cy="1828800"/>
          </a:xfrm>
          <a:prstGeom prst="roundRect">
            <a:avLst>
              <a:gd name="adj" fmla="val 6000"/>
            </a:avLst>
          </a:prstGeom>
          <a:solidFill>
            <a:srgbClr val="C7A46A"/>
          </a:solidFill>
          <a:ln/>
        </p:spPr>
      </p:sp>
      <p:sp>
        <p:nvSpPr>
          <p:cNvPr id="20" name="Text 18"/>
          <p:cNvSpPr/>
          <p:nvPr/>
        </p:nvSpPr>
        <p:spPr>
          <a:xfrm>
            <a:off x="5143500" y="423367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80px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22960" y="470916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8px base unit, scaling to --space-10 at 80px.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8040" y="1828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78040" y="224028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52400" dist="508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7804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326880" y="2240280"/>
            <a:ext cx="1828800" cy="1188720"/>
          </a:xfrm>
          <a:prstGeom prst="roundRect">
            <a:avLst>
              <a:gd name="adj" fmla="val 4615"/>
            </a:avLst>
          </a:prstGeom>
          <a:solidFill>
            <a:srgbClr val="FBF7EF"/>
          </a:solidFill>
          <a:ln/>
          <a:effectLst>
            <a:outerShdw sx="100000" sy="100000" kx="0" ky="0" algn="bl" rotWithShape="0" blurRad="304800" dist="1016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22960" y="5257800"/>
            <a:ext cx="10515600" cy="1051560"/>
          </a:xfrm>
          <a:prstGeom prst="roundRect">
            <a:avLst>
              <a:gd name="adj" fmla="val 6087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27000" dist="38100" dir="5400000">
              <a:srgbClr val="000000">
                <a:alpha val="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15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MAX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515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1200px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36804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WIDE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804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1320px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63093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PAD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16–40px</a:t>
            </a:r>
            <a:endParaRPr lang="en-US" sz="1900" dirty="0"/>
          </a:p>
        </p:txBody>
      </p:sp>
      <p:sp>
        <p:nvSpPr>
          <p:cNvPr id="34" name="Text 32"/>
          <p:cNvSpPr/>
          <p:nvPr/>
        </p:nvSpPr>
        <p:spPr>
          <a:xfrm>
            <a:off x="8938260" y="5440680"/>
            <a:ext cx="23545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OFFSET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38260" y="5742432"/>
            <a:ext cx="23545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4.5–5.75rem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E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work happens.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64312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824" y="2651760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5752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01472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Calm, wayfinding-led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environments.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877160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672" y="2651760"/>
            <a:ext cx="676656" cy="6766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68600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Workplace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3014320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Offices built around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and gathering.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90008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20" y="2651760"/>
            <a:ext cx="676656" cy="6766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81448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227168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Storefronts that slow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down, on purpose.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302856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68" y="2651760"/>
            <a:ext cx="676656" cy="6766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94296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Residential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7440016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designed for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quiet, daily ritual.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9515704" y="2148840"/>
            <a:ext cx="2011680" cy="3383280"/>
          </a:xfrm>
          <a:prstGeom prst="roundRect">
            <a:avLst>
              <a:gd name="adj" fmla="val 3636"/>
            </a:avLst>
          </a:prstGeom>
          <a:solidFill>
            <a:srgbClr val="FBF7EF"/>
          </a:solidFill>
          <a:ln/>
          <a:effectLst>
            <a:outerShdw sx="100000" sy="100000" kx="0" ky="0" algn="bl" rotWithShape="0" blurRad="177800" dist="63500" dir="5400000">
              <a:srgbClr val="000000">
                <a:alpha val="7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3216" y="2651760"/>
            <a:ext cx="676656" cy="6766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607144" y="35935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9652864" y="4087368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Site-ready detail from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to commissioning.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speed and precision.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781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1400" y="2212848"/>
            <a:ext cx="768096" cy="7680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152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Astro 6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152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· TypeScript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785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800" y="2212848"/>
            <a:ext cx="768096" cy="7680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8156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 CSS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8156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Tailwind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878928" y="1920240"/>
            <a:ext cx="2834640" cy="2331720"/>
          </a:xfrm>
          <a:prstGeom prst="roundRect">
            <a:avLst>
              <a:gd name="adj" fmla="val 3137"/>
            </a:avLst>
          </a:prstGeom>
          <a:solidFill>
            <a:srgbClr val="221C17"/>
          </a:solidFill>
          <a:ln/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2200" y="2212848"/>
            <a:ext cx="768096" cy="7680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016088" y="3154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016088" y="35478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50" kern="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on push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9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· src/content/{services,projects,insights}   —   DATA · src/data/site.json   —   IMAGES · public/images/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1737360" y="5212080"/>
            <a:ext cx="8686800" cy="640080"/>
          </a:xfrm>
          <a:prstGeom prst="roundRect">
            <a:avLst>
              <a:gd name="adj" fmla="val 11429"/>
            </a:avLst>
          </a:prstGeom>
          <a:solidFill>
            <a:srgbClr val="221C17"/>
          </a:solidFill>
          <a:ln w="12700">
            <a:solidFill>
              <a:srgbClr val="2A2219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1965960" y="5266944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C7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 — RUN BEFORE EVERY COMMIT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1965960" y="55412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FC5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validate:images &amp;&amp; npm run build &amp;&amp; npm run check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7A47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686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path, brief to handover.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2932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2A2219"/>
          </a:solidFill>
          <a:ln/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2932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BF7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836012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82900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8" name="Shape 6"/>
          <p:cNvSpPr/>
          <p:nvPr/>
        </p:nvSpPr>
        <p:spPr>
          <a:xfrm>
            <a:off x="3128620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28620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11700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58588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12" name="Shape 10"/>
          <p:cNvSpPr/>
          <p:nvPr/>
        </p:nvSpPr>
        <p:spPr>
          <a:xfrm>
            <a:off x="5204308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04308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87388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4276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16" name="Shape 14"/>
          <p:cNvSpPr/>
          <p:nvPr/>
        </p:nvSpPr>
        <p:spPr>
          <a:xfrm>
            <a:off x="7279996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79996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063076" y="2537460"/>
            <a:ext cx="292608" cy="0"/>
          </a:xfrm>
          <a:prstGeom prst="line">
            <a:avLst/>
          </a:prstGeom>
          <a:noFill/>
          <a:ln w="19050">
            <a:solidFill>
              <a:srgbClr val="C7A4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09964" y="2496312"/>
            <a:ext cx="82296" cy="82296"/>
          </a:xfrm>
          <a:prstGeom prst="ellipse">
            <a:avLst/>
          </a:prstGeom>
          <a:solidFill>
            <a:srgbClr val="C7A46A"/>
          </a:solidFill>
          <a:ln/>
        </p:spPr>
      </p:sp>
      <p:sp>
        <p:nvSpPr>
          <p:cNvPr id="20" name="Shape 18"/>
          <p:cNvSpPr/>
          <p:nvPr/>
        </p:nvSpPr>
        <p:spPr>
          <a:xfrm>
            <a:off x="9355684" y="2057400"/>
            <a:ext cx="1783080" cy="960120"/>
          </a:xfrm>
          <a:prstGeom prst="roundRect">
            <a:avLst>
              <a:gd name="adj" fmla="val 7619"/>
            </a:avLst>
          </a:prstGeom>
          <a:solidFill>
            <a:srgbClr val="F4EEE4"/>
          </a:solidFill>
          <a:ln w="12700">
            <a:solidFill>
              <a:srgbClr val="EBE3D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355684" y="205740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A26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2932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+about + team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128620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practice areas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204308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index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279996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articles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355684" y="31821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+ map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280160" y="4160520"/>
            <a:ext cx="9601200" cy="0"/>
          </a:xfrm>
          <a:prstGeom prst="line">
            <a:avLst/>
          </a:prstGeom>
          <a:noFill/>
          <a:ln w="12700">
            <a:solidFill>
              <a:srgbClr val="EBE3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4389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66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PAGES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28016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4612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4612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Policy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21208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of Use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17804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7804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144000" y="4754880"/>
            <a:ext cx="1828800" cy="502920"/>
          </a:xfrm>
          <a:prstGeom prst="roundRect">
            <a:avLst>
              <a:gd name="adj" fmla="val 49091"/>
            </a:avLst>
          </a:prstGeom>
          <a:ln w="12700">
            <a:solidFill>
              <a:srgbClr val="EBE3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0" y="4754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66D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service links to case studies; each project links to insight articles.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ns0:sld xmlns:ns0="http://schemas.openxmlformats.org/presentationml/2006/main" xmlns:ns1="http://schemas.openxmlformats.org/drawingml/2006/main">
  <ns0:cSld name="Slide 11">
    <ns0:bg>
      <ns0:bgPr>
        <ns1:solidFill>
          <ns1:srgbClr val="221C17"/>
        </ns1:solidFill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hape 0"/>
          <ns0:cNvSpPr/>
          <ns0:nvPr/>
        </ns0:nvSpPr>
        <ns0:spPr>
          <ns1:xfrm>
            <ns1:off x="8686800" y="-2286000"/>
            <ns1:ext cx="5486400" cy="5486400"/>
          </ns1:xfrm>
          <ns1:prstGeom prst="ellipse">
            <ns1:avLst/>
          </ns1:prstGeom>
          <ns1:solidFill>
            <ns1:srgbClr val="2A2219">
              <ns1:alpha val="65000"/>
            </ns1:srgbClr>
          </ns1:solidFill>
          <ns1:ln/>
        </ns0:spPr>
      </ns0:sp>
      <ns0:sp>
        <ns0:nvSpPr>
          <ns0:cNvPr id="3" name="Text 1"/>
          <ns0:cNvSpPr/>
          <ns0:nvPr/>
        </ns0:nvSpPr>
        <ns0:spPr>
          <ns1:xfrm>
            <ns1:off x="822960" y="1051560"/>
            <ns1:ext cx="73152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200" spc="300" kern="0" dirty="0">
                <ns1:solidFill>
                  <ns1:srgbClr val="C7A46A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CONTACT</ns1:t>
            </ns1:r>
            <ns1:endParaRPr lang="en-US" sz="1200" dirty="0"/>
          </ns1:p>
        </ns0:txBody>
      </ns0:sp>
      <ns0:sp>
        <ns0:nvSpPr>
          <ns0:cNvPr id="4" name="Text 2"/>
          <ns0:cNvSpPr/>
          <ns0:nvPr/>
        </ns0:nvSpPr>
        <ns0:spPr>
          <ns1:xfrm>
            <ns1:off x="777240" y="1417320"/>
            <ns1:ext cx="9144000" cy="914400"/>
          </ns1:xfrm>
          <ns1:prstGeom prst="rect">
            <ns1:avLst/>
          </ns1:prstGeom>
          <ns1:noFill/>
          <ns1:ln/>
        </ns0:spPr>
        <ns0:txBody>
          <ns1:bodyPr wrap="square" lIns="0" tIns="0" rIns="0" bIns="0" rtlCol="0" anchor="ctr"/>
          <ns1:lstStyle/>
          <ns1:p>
            <ns1:pPr indent="0" marL="0">
              <ns1:buNone/>
            </ns1:pPr>
            <ns1:r>
              <ns1:rPr lang="en-US" sz="4000" dirty="0">
                <ns1:solidFill>
                  <ns1:srgbClr val="FBF7EF"/>
                </ns1:solidFill>
                <ns1:latin typeface="Cambria" pitchFamily="34" charset="0"/>
                <ns1:ea typeface="Cambria" pitchFamily="34" charset="-122"/>
                <ns1:cs typeface="Cambria" pitchFamily="34" charset="-120"/>
              </ns1:rPr>
              <ns1:t>Vencore Design Co.</ns1:t>
            </ns1:r>
            <ns1:endParaRPr lang="en-US" sz="4000" dirty="0"/>
          </ns1:p>
        </ns0:txBody>
      </ns0:sp>
      <ns0:sp>
        <ns0:nvSpPr>
          <ns0:cNvPr id="5" name="Shape 3"/>
          <ns0:cNvSpPr/>
          <ns0:nvPr/>
        </ns0:nvSpPr>
        <ns0:spPr>
          <ns1:xfrm>
            <ns1:off x="822960" y="2395728"/>
            <ns1:ext cx="822960" cy="0"/>
          </ns1:xfrm>
          <ns1:prstGeom prst="line">
            <ns1:avLst/>
          </ns1:prstGeom>
          <ns1:noFill/>
          <ns1:ln w="15875">
            <ns1:solidFill>
              <ns1:srgbClr val="9B6B3D"/>
            </ns1:solidFill>
            <ns1:prstDash val="solid"/>
          </ns1:ln>
        </ns0:spPr>
      </ns0:sp>
      <ns0:sp>
        <ns0:nvSpPr>
          <ns0:cNvPr id="6" name="Text 4"/>
          <ns0:cNvSpPr/>
          <ns0:nvPr/>
        </ns0:nvSpPr>
        <ns0:spPr>
          <ns1:xfrm>
            <ns1:off x="822960" y="27432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WEBSITE</ns1:t>
            </ns1:r>
            <ns1:endParaRPr lang="en-US" sz="950" dirty="0"/>
          </ns1:p>
        </ns0:txBody>
      </ns0:sp>
      <ns0:sp>
        <ns0:nvSpPr>
          <ns0:cNvPr id="7" name="Text 5"/>
          <ns0:cNvSpPr/>
          <ns0:nvPr/>
        </ns0:nvSpPr>
        <ns0:spPr>
          <ns1:xfrm>
            <ns1:off x="2743200" y="27432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vencoredesign.com</ns1:t>
            </ns1:r>
            <ns1:endParaRPr lang="en-US" sz="1350" dirty="0"/>
          </ns1:p>
        </ns0:txBody>
      </ns0:sp>
      <ns0:sp>
        <ns0:nvSpPr>
          <ns0:cNvPr id="8" name="Text 6"/>
          <ns0:cNvSpPr/>
          <ns0:nvPr/>
        </ns0:nvSpPr>
        <ns0:spPr>
          <ns1:xfrm>
            <ns1:off x="822960" y="32004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EMAIL</ns1:t>
            </ns1:r>
            <ns1:endParaRPr lang="en-US" sz="950" dirty="0"/>
          </ns1:p>
        </ns0:txBody>
      </ns0:sp>
      <ns0:sp>
        <ns0:nvSpPr>
          <ns0:cNvPr id="9" name="Text 7"/>
          <ns0:cNvSpPr/>
          <ns0:nvPr/>
        </ns0:nvSpPr>
        <ns0:spPr>
          <ns1:xfrm>
            <ns1:off x="2743200" y="32004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info@vencoredesign.com</ns1:t>
            </ns1:r>
            <ns1:endParaRPr lang="en-US" sz="1350" dirty="0"/>
          </ns1:p>
        </ns0:txBody>
      </ns0:sp>
      <ns0:sp>
        <ns0:nvSpPr>
          <ns0:cNvPr id="10" name="Text 8"/>
          <ns0:cNvSpPr/>
          <ns0:nvPr/>
        </ns0:nvSpPr>
        <ns0:spPr>
          <ns1:xfrm>
            <ns1:off x="822960" y="36576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WHATSAPP</ns1:t>
            </ns1:r>
            <ns1:endParaRPr lang="en-US" sz="950" dirty="0"/>
          </ns1:p>
        </ns0:txBody>
      </ns0:sp>
      <ns0:sp>
        <ns0:nvSpPr>
          <ns0:cNvPr id="11" name="Text 9"/>
          <ns0:cNvSpPr/>
          <ns0:nvPr/>
        </ns0:nvSpPr>
        <ns0:spPr>
          <ns1:xfrm>
            <ns1:off x="2743200" y="36576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+91 70931 27880</ns1:t>
            </ns1:r>
            <ns1:endParaRPr lang="en-US" sz="1350" dirty="0"/>
          </ns1:p>
        </ns0:txBody>
      </ns0:sp>
      <ns0:sp>
        <ns0:nvSpPr>
          <ns0:cNvPr id="12" name="Text 10"/>
          <ns0:cNvSpPr/>
          <ns0:nvPr/>
        </ns0:nvSpPr>
        <ns0:spPr>
          <ns1:xfrm>
            <ns1:off x="822960" y="4114800"/>
            <ns1:ext cx="18288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PHONE</ns1:t>
            </ns1:r>
            <ns1:endParaRPr lang="en-US" sz="950" dirty="0"/>
          </ns1:p>
        </ns0:txBody>
      </ns0:sp>
      <ns0:sp>
        <ns0:nvSpPr>
          <ns0:cNvPr id="13" name="Text 11"/>
          <ns0:cNvSpPr/>
          <ns0:nvPr/>
        </ns0:nvSpPr>
        <ns0:spPr>
          <ns1:xfrm>
            <ns1:off x="2743200" y="4114800"/>
            <ns1:ext cx="5943600" cy="36576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135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+91 98660 14664</ns1:t>
            </ns1:r>
            <ns1:endParaRPr lang="en-US" sz="1350" dirty="0"/>
          </ns1:p>
        </ns0:txBody>
      </ns0:sp>
      <ns0:sp>
        <ns0:nvSpPr>
          <ns0:cNvPr id="16" name="Shape 14"/>
          <ns0:cNvSpPr/>
          <ns0:nvPr/>
        </ns0:nvSpPr>
        <ns0:spPr>
          <ns1:xfrm>
            <ns1:off x="822960" y="5166360"/>
            <ns1:ext cx="7863840" cy="0"/>
          </ns1:xfrm>
          <ns1:prstGeom prst="line">
            <ns1:avLst/>
          </ns1:prstGeom>
          <ns1:noFill/>
          <ns1:ln w="12700">
            <ns1:solidFill>
              <ns1:srgbClr val="2A2219"/>
            </ns1:solidFill>
            <ns1:prstDash val="solid"/>
          </ns1:ln>
        </ns0:spPr>
      </ns0:sp>
      <ns0:sp>
        <ns0:nvSpPr>
          <ns0:cNvPr id="17" name="Text 15"/>
          <ns0:cNvSpPr/>
          <ns0:nvPr/>
        </ns0:nvSpPr>
        <ns0:spPr>
          <ns1:xfrm>
            <ns1:off x="822960" y="5349240"/>
            <ns1:ext cx="1828800" cy="27432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buNone/>
            </ns1:pPr>
            <ns1:r>
              <ns1:rPr lang="en-US" sz="950" spc="150" kern="0" dirty="0">
                <ns1:solidFill>
                  <ns1:srgbClr val="9A9086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STUDIO</ns1:t>
            </ns1:r>
            <ns1:endParaRPr lang="en-US" sz="950" dirty="0"/>
          </ns1:p>
        </ns0:txBody>
      </ns0:sp>
      <ns0:sp>
        <ns0:nvSpPr>
          <ns0:cNvPr id="18" name="Text 16"/>
          <ns0:cNvSpPr/>
          <ns0:nvPr/>
        </ns0:nvSpPr>
        <ns0:spPr>
          <ns1:xfrm>
            <ns1:off x="2743200" y="5349240"/>
            <ns1:ext cx="6400800" cy="548640"/>
          </ns1:xfrm>
          <ns1:prstGeom prst="rect">
            <ns1:avLst/>
          </ns1:prstGeom>
          <ns1:noFill/>
          <ns1:ln/>
        </ns0:spPr>
        <ns0:txBody>
          <ns1:bodyPr wrap="square" rtlCol="0" anchor="ctr"/>
          <ns1:lstStyle/>
          <ns1:p>
            <ns1:pPr indent="0" marL="0">
              <ns1:lnSpc>
                <ns1:spcPct val="125000"/>
              </ns1:lnSpc>
              <ns1:buNone/>
            </ns1:pPr>
            <ns1:r>
              <ns1:rPr lang="en-US" sz="120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Door No. 9-24/9B/2, 9th Floor, Vaishnavi Cymbol,</ns1:t>
            </ns1:r>
            <ns1:endParaRPr lang="en-US" sz="1200" dirty="0"/>
          </ns1:p>
          <ns1:p>
            <ns1:pPr indent="0" marL="0">
              <ns1:lnSpc>
                <ns1:spcPct val="125000"/>
              </ns1:lnSpc>
              <ns1:buNone/>
            </ns1:pPr>
            <ns1:r>
              <ns1:rPr lang="en-US" sz="1200" dirty="0">
                <ns1:solidFill>
                  <ns1:srgbClr val="FBF7EF"/>
                </ns1:solidFill>
                <ns1:latin typeface="Calibri" pitchFamily="34" charset="0"/>
                <ns1:ea typeface="Calibri" pitchFamily="34" charset="-122"/>
                <ns1:cs typeface="Calibri" pitchFamily="34" charset="-120"/>
              </ns1:rPr>
              <ns1:t>Financial District, Nanakramguda, Hyderabad — 500032</ns1:t>
            </ns1:r>
            <ns1:endParaRPr lang="en-US" sz="1200" dirty="0"/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Vencore Design Co. — Brand &amp; UI Reference</dc:title>
  <dc:subject>PptxGenJS Presentation</dc:subject>
  <dc:creator>Vencore Design Co.</dc:creator>
  <cp:lastModifiedBy>Vencore Design Co.</cp:lastModifiedBy>
  <cp:revision>1</cp:revision>
  <dcterms:created xsi:type="dcterms:W3CDTF">2026-07-07T03:22:14Z</dcterms:created>
  <dcterms:modified xsi:type="dcterms:W3CDTF">2026-07-07T03:22:14Z</dcterms:modified>
</cp:coreProperties>
</file>